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064A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35E-4ACD-86FC-BD360BCBAC79}"/>
              </c:ext>
            </c:extLst>
          </c:dPt>
          <c:dPt>
            <c:idx val="1"/>
            <c:invertIfNegative val="0"/>
            <c:bubble3D val="0"/>
            <c:spPr>
              <a:solidFill>
                <a:srgbClr val="16653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5E-4ACD-86FC-BD360BCBAC79}"/>
              </c:ext>
            </c:extLst>
          </c:dPt>
          <c:dPt>
            <c:idx val="2"/>
            <c:invertIfNegative val="0"/>
            <c:bubble3D val="0"/>
            <c:spPr>
              <a:solidFill>
                <a:srgbClr val="0D7A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5E-4ACD-86FC-BD360BCBAC79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35E-4ACD-86FC-BD360BCBAC7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Ridge
Regression</c:v>
                </c:pt>
                <c:pt idx="1">
                  <c:v>Random
Forest</c:v>
                </c:pt>
                <c:pt idx="2">
                  <c:v>Gradient
Boosting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</c:v>
                </c:pt>
                <c:pt idx="1">
                  <c:v>0.84</c:v>
                </c:pt>
                <c:pt idx="2">
                  <c:v>0.86</c:v>
                </c:pt>
                <c:pt idx="3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35E-4ACD-86FC-BD360BCBAC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86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58FC3-7EFF-7899-EAE4-C8C10D697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8ABE3-3B76-6EA6-917E-0ACF695AA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90A46-8EFE-DD5E-A282-C1DDE7EB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91955-AECF-010C-1E3A-A570691F4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29769-F195-E792-3EA9-581075F5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9806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826B-DEDC-00E9-041A-8E71148DF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B79F7-706B-C2CD-8A33-1F9999669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4949B-2893-7B20-19DF-27F21784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6227F-F429-A00F-D37E-C783FCFAD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119BF-2C2A-F249-062B-5B0F8B9A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0598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5F01-4AC7-E86A-6A9B-692DEB6D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6BA24-29A3-650D-71FD-E0F102AE4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CC4B9-7BF1-50ED-88FB-34E083EA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A6F41-93E2-B6C0-90FB-4EA300240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948F6-6D9F-EF12-2A60-73C611F6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428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62F07-9B86-1CCF-F5F8-718CCE1D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26A72-29C9-C849-8B4B-901DAF64E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0DADC-3F70-0D28-9A99-51E35DC95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C7847-1C57-36D4-4B88-2F57A5DC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A5E39-D08B-DCE2-F805-E2452478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2B6C3-6E71-E27E-D2CA-4806C183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94314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3F98-7AC5-326A-A01F-C2AB744B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00BBA-CBF1-0FB8-41CA-83B11061C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2F17B5-2016-9576-FD92-2ACC45C7C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73AFC-94F0-91AC-D5FC-D1338845D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8D9BF-3B0F-2102-4BFF-EF1C90873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8FCC4-8B4F-F1B7-9D36-5CF00302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E3C06-753C-C245-41FA-B96ADBF7F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62C582-C7CE-E866-470F-4DB27B8C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01803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82280-03FA-7F81-5213-B17DA508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AE1B3-DAB4-B622-B16B-BFA10D87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D5A9D-3CCE-3712-845D-B866D2BD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209F6-6D34-BEA2-8EA4-812200E09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0084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539EEA-8301-4E72-F221-D29E3C910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93A3B-331E-9F76-442B-FA43BBA89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98AB1-CA1C-766A-6A50-67C515F5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2009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4E63-DE6C-AD6A-0A71-F7533A7C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792CD-B013-B07F-4E46-871E8A81D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4F55F-4F61-F332-DFA1-C2DB63B8A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D29D8C-9E90-B295-FC44-8EA18532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C97B3-1A25-0999-9264-69EDDCBC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C9F72-8388-956A-2B09-AD14B6C2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78935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72A8-EED6-3E89-F82A-9F76BF40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D52BC-ED4C-85AF-5E0E-A676FAFA2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D597F-EE99-0963-F97F-F526268A3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D00B6-86C5-C754-D4FB-BC73AF48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2C240-37DD-BA17-C67C-AEAEFEE8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D2D05-5215-B7A7-41C6-0C45BE74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3022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29E4-08F8-8EC9-7DC3-F21B86265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CB89F-1C2A-90CE-A05E-DD2D0D32D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307F6-D959-5C1E-4327-7FE8400A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BC622-F396-22BD-1894-94F4BDDE4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822B3-F989-4C12-8983-CBCCC55A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2328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52935-A125-B93F-9822-EF08A1B51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FB71A-CA9B-102C-018F-3CD152B16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21C25-6D7C-71B7-43F0-37822E87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7EA30-2E13-102B-8C26-1B000B10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E13AC-C470-F9CC-CCA1-268810143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21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9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A7029B-E536-5F29-72C3-C4095AEF0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EEDCE-2C6A-3F73-C05E-8D52196B9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E56D0-38A5-165A-31F1-E472F51EF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E7FE1-9D6B-97D9-DB88-E57D86865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7C84D-0590-AC1E-097C-DC1AC40DE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4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2320" y="73152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PRICE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Pipeline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01752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Data Cleaning  →  Feature Engineering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EDA  →  Preprocessing  →  Model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</a:rPr>
              <a:t>Tuning  →  SHAP Explainability  → 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20 stages from raw data to production-ready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00584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52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01–02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Data Loading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&amp; Feature Eng.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89304" y="17373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097280"/>
            <a:ext cx="1005840" cy="1280160"/>
          </a:xfrm>
          <a:prstGeom prst="rect">
            <a:avLst/>
          </a:prstGeom>
          <a:solidFill>
            <a:srgbClr val="1B4980"/>
          </a:solidFill>
          <a:ln w="12700">
            <a:solidFill>
              <a:srgbClr val="1B498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152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03–04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144475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Cleaning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Outlier Removal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86584" y="17373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097280"/>
            <a:ext cx="1005840" cy="1280160"/>
          </a:xfrm>
          <a:prstGeom prst="rect">
            <a:avLst/>
          </a:prstGeom>
          <a:solidFill>
            <a:srgbClr val="1C6E7D"/>
          </a:solidFill>
          <a:ln w="12700">
            <a:solidFill>
              <a:srgbClr val="1C6E7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152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05–06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144475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Univariate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Bivariate EDA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83864" y="17373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097280"/>
            <a:ext cx="10058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66160" y="1152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07–09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144475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Encoding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Interaction Features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81144" y="17373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097280"/>
            <a:ext cx="1005840" cy="1280160"/>
          </a:xfrm>
          <a:prstGeom prst="rect">
            <a:avLst/>
          </a:prstGeom>
          <a:solidFill>
            <a:srgbClr val="0D7A72"/>
          </a:solidFill>
          <a:ln w="12700">
            <a:solidFill>
              <a:srgbClr val="0D7A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1152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144475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MI 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&amp; VIF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78424" y="17373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1097280"/>
            <a:ext cx="1005840" cy="12801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60720" y="1152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11–13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144475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Pipelines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Base Models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75704" y="17373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097280"/>
            <a:ext cx="1005840" cy="128016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0" y="1152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14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144475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Hyperparameter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Tuning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872984" y="173736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1097280"/>
            <a:ext cx="1005840" cy="12801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955280" y="11521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</a:rPr>
              <a:t>15–20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1444752"/>
            <a:ext cx="10058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Residuals, SHAP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&amp; Deployment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6576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20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320040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Pipeline Stages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304288" y="36576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304288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4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2304288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ML Models Tested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88536" y="36576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288536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14+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4288536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Engineered Features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72784" y="36576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72784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</a:rPr>
              <a:t>SHAP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6272784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Explainability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88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1508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Stage 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4320" y="17830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" y="2971800"/>
            <a:ext cx="283464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0175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Excel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040" y="33009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Source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3749040"/>
            <a:ext cx="283464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7947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</a:rPr>
              <a:t>Raw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0040" y="40782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Initial State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49040" y="228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done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749040" y="68580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49040" y="68580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731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Loaded from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86200" y="1005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Processed_Flipdata.xlsx via pandas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49040" y="1481328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49040" y="1481328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86200" y="1527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Column rename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86200" y="1801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'Battery_' → 'Battery', 'Prize' → 'Price'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749040" y="2276856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749040" y="2276856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86200" y="2322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Unnamed column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886200" y="25968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Dropped index artifact (Unnamed: 0)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749040" y="3072384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749040" y="3072384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86200" y="3118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Shape check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886200" y="33924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Verified dimensions &amp; missing values audit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749040" y="3867912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749040" y="386791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8620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Data types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886200" y="4187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Reviewed with df.info() and df.describe()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8160" y="13716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— Feature Engineering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77724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777240"/>
            <a:ext cx="64008" cy="8412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841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Brand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75488" y="1124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Extracted from first word of Model name; normalised (REDMI → XIAOMI)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" y="1801368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801368"/>
            <a:ext cx="64008" cy="841248"/>
          </a:xfrm>
          <a:prstGeom prst="rect">
            <a:avLst/>
          </a:prstGeom>
          <a:solidFill>
            <a:srgbClr val="1B4980"/>
          </a:solidFill>
          <a:ln w="12700">
            <a:solidFill>
              <a:srgbClr val="1B49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1865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Rear_MP / Front_MP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75488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Parsed megapixel integers from strings like '50MP' or '50 MP'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" y="282549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825496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" y="2889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Processor_Brand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75488" y="3172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Bucketed into Qualcomm / MediaTek / Unisoc / Exynos / Google / Apple / Other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" y="384962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3849624"/>
            <a:ext cx="64008" cy="841248"/>
          </a:xfrm>
          <a:prstGeom prst="rect">
            <a:avLst/>
          </a:prstGeom>
          <a:solidFill>
            <a:srgbClr val="0D7A72"/>
          </a:solidFill>
          <a:ln w="12700">
            <a:solidFill>
              <a:srgbClr val="0D7A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3913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Processor_Tier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75488" y="41970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Premium / Mid / Budget via keyword matching on chipset names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46320" y="77724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46320" y="777240"/>
            <a:ext cx="64008" cy="8412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01768" y="841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Processor_Tier_Num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01768" y="11247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Numeric map: Budget=1, Mid=2, Premium=3 for interaction terms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46320" y="1801368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46320" y="1801368"/>
            <a:ext cx="64008" cy="8412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01768" y="1865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Is_5G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001768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Binary flag from Model name OR Processor string contains '5G'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846320" y="282549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46320" y="2825496"/>
            <a:ext cx="64008" cy="8412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01768" y="2889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</a:rPr>
              <a:t>Has_AI_Lens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01768" y="31729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Binary flag derived from optional 'AI Lens' column (if present)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Stages 03–04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Feature Dropping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291840" cy="123444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55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IQR Method (×2.5)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Q1 − 2.5×IQR  ≤  value  ≤  Q3 + 2.5×IQR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Multiplier 2.5 retains legitimate high-end outliers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</a:rPr>
              <a:t>Columns targeted: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Price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RAM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Battery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• Rear_MP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+ Battery &gt; 2000 mAh  |  Height &gt; 10 cm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0" y="2286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Dropped (Stage 04)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14800" y="612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Raw text columns fully replaced by engineered features: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1005840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51960" y="1078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51960" y="133502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→ Brand extracted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1764792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51960" y="1837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Rear Camera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209397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→ Rear_MP extracted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523744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51960" y="2596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Front Camera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51960" y="285292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→ Front_MP extracted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3282696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51960" y="3355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Processor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51960" y="36118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→ Processor_Brand, Tier, Tier_Num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4041648"/>
            <a:ext cx="4754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5196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Colour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51960" y="43708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</a:rPr>
              <a:t>→ No predictive signal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— Univariate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Distributions, skewness, kurtosis — numerical and categorical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060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Price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Right-skewed →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log-transform applied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6060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RAM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46120" y="135331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Right-skewed,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discrete values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00584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05840"/>
            <a:ext cx="26060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Memory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80760" y="135331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Right-skewed,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GB tiers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31720"/>
            <a:ext cx="26060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Battery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26791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Near-normal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distribution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54680" y="233172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331720"/>
            <a:ext cx="26060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Mobile Height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46120" y="26791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Slight right-skew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233172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331720"/>
            <a:ext cx="26060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3317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Rear_MP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080760" y="267919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Right-skewed,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few high-MP outliers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57600"/>
            <a:ext cx="85039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</a:rPr>
              <a:t>Categorical Features Analysed: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069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Brand (top manufacturers by count)  ·  Processor_Brand (Qualcomm dominates)  ·  Processor_Tier (Budget majority, small Premium segment)  — visualised with ordered bar charts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56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Stage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Pearson r vs Price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30175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81051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</a:rPr>
              <a:t>≈ +0.71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30175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04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4048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</a:rPr>
              <a:t>≈ +0.55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30175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992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Rear_MP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9992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</a:rPr>
              <a:t>≈ +0.48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30175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93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Battery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5935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</a:rPr>
              <a:t>≈ +0.28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160520"/>
            <a:ext cx="301752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879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Front_MP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1879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4B8A6"/>
                </a:solidFill>
              </a:rPr>
              <a:t>≈ +0.36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182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Bivariate Findings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931920" y="713232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0" y="713232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87368" y="7772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RAM is the strongest predictor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87368" y="1051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Pearson r ≈ 0.71 — higher RAM strongly correlates with premium pricing across all brands.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31920" y="1554480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31920" y="155448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87368" y="16184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5G commands a premium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87368" y="18928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Boxplots and violin plots show 5G devices cluster at significantly higher price points vs non-5G.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31920" y="2395728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931920" y="2395728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87368" y="24597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Brand pricing power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87368" y="2734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Ordered boxplots reveal distinct brand tiers — certain brands price high independent of specs.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931920" y="3236976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931920" y="323697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87368" y="33009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Processor tier aligns with price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87368" y="35753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Premium processor tier phones are concentrated in higher price bands; Budget tier overlaps with low prices.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31920" y="4078224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931920" y="4078224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87368" y="41422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Correlation heatmap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087368" y="44165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Lower-triangle heatmap shows RAM×Memory and RAM×Processor_Tier_Num have significant co-variance.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07–08 — Preprocessing &amp; Train/Test Split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14800" cy="2103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Label Encoding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Applied to: Brand, Processor_Brand, Processor_Tier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LabelEncoder fits on full dataset — no target statistics used → zero leakage risk.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Each category mapped to integer index for tree-based models.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49808"/>
            <a:ext cx="4114800" cy="2103120"/>
          </a:xfrm>
          <a:prstGeom prst="rect">
            <a:avLst/>
          </a:prstGeom>
          <a:solidFill>
            <a:srgbClr val="0D7A72"/>
          </a:solidFill>
          <a:ln w="12700">
            <a:solidFill>
              <a:srgbClr val="0D7A7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8412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Log-Transform Target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207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FBF1"/>
                </a:solidFill>
              </a:rPr>
              <a:t>np.log1p(Price)  →  log_Price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Before: Skew ≈ +2.1 (heavy right tail)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After:   Skew ≈ +0.3 (near-normal)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Benefit: Models penalise proportional errors; MSE loss more meaningful.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8503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127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Train / Test Split  (80% / 20%, random_state=42)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6437376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84448"/>
            <a:ext cx="6437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Training Set — 80%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3584448"/>
            <a:ext cx="160934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3584448"/>
            <a:ext cx="1609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Test 20%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096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Base features: Memory, RAM, Battery, Height, Rear_MP, Front_MP, Is_5G, Brand, Processor_Brand, Processor_Tier, Processor_Tier_Num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585216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74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Stage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1874520"/>
            <a:ext cx="2834640" cy="14173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Anti-Leakage Measures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2286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1F5F9"/>
                </a:solidFill>
              </a:rPr>
              <a:t>Brand_Freq: count encoded on TRAIN only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1F5F9"/>
                </a:solidFill>
              </a:rPr>
              <a:t>Brand_Price_Tier: median log-price per brand from TRAIN only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94A3B8"/>
                </a:solidFill>
              </a:rPr>
              <a:t>Test set mapped from train statistics → no leakage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34747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Total: 14+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37673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after interactions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Interaction Features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566160" y="713232"/>
            <a:ext cx="5257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75888" y="758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RAM × Memory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76672" y="7589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</a:rPr>
              <a:t>RAM * Memory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75888" y="10058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Combined storage capability as a premium proxy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1325880"/>
            <a:ext cx="5257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75888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Camera Ratio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76672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</a:rPr>
              <a:t>Rear_MP / (Front_MP + 1)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75888" y="16184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Captures focus on rear camera investment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66160" y="1938528"/>
            <a:ext cx="5257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75888" y="1984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5G × Proc Tier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76672" y="19842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</a:rPr>
              <a:t>Is_5G * Processor_Tier_Num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75888" y="22311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5G premium amplified by processor class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66160" y="2551176"/>
            <a:ext cx="5257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75888" y="2596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RAM²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76672" y="25968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</a:rPr>
              <a:t>RAM ** 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75888" y="284378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Non-linear RAM effect on high-end phones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3163824"/>
            <a:ext cx="5257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75888" y="32095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log(Memory)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76672" y="32095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</a:rPr>
              <a:t>np.log1p(Memory)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75888" y="34564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Diminishing returns on storage pricing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66160" y="3776472"/>
            <a:ext cx="5257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75888" y="3822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Battery per Height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76672" y="38221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</a:rPr>
              <a:t>Battery / (Height + 1)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75888" y="40690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Battery density relative to form factor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66160" y="4389120"/>
            <a:ext cx="5257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75888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RAM × Proc Tier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76672" y="4434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</a:rPr>
              <a:t>RAM * Processor_Tier_Num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75888" y="46817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Combined performance capability signal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10 — Feature Selection: MI Scores &amp; VIF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Top MI Scores vs log(Price)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115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RAM_x_ProcTier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16152" y="1197864"/>
            <a:ext cx="395020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6373368" y="11155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0.72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Brand_Price_Tier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11580" y="1563976"/>
            <a:ext cx="37307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6153912" y="15270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0.68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938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RAM_x_Memory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11580" y="1995502"/>
            <a:ext cx="3566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938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0.65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3500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11580" y="2406982"/>
            <a:ext cx="3346704" cy="256032"/>
          </a:xfrm>
          <a:prstGeom prst="rect">
            <a:avLst/>
          </a:prstGeom>
          <a:solidFill>
            <a:srgbClr val="0D7A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3500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0.61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761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Processor_Tier_Num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07008" y="2841674"/>
            <a:ext cx="3127248" cy="256032"/>
          </a:xfrm>
          <a:prstGeom prst="rect">
            <a:avLst/>
          </a:prstGeom>
          <a:solidFill>
            <a:srgbClr val="0D7A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0408" y="27614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0.57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3172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5G_x_ProcTier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07008" y="3211303"/>
            <a:ext cx="2852928" cy="256032"/>
          </a:xfrm>
          <a:prstGeom prst="rect">
            <a:avLst/>
          </a:prstGeom>
          <a:solidFill>
            <a:srgbClr val="0D7A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6088" y="31729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0.52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3584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Rear_MP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07008" y="3635795"/>
            <a:ext cx="246888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5844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0.45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3995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Brand_Freq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10173" y="4047275"/>
            <a:ext cx="2249424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39959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0.41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01768" y="594360"/>
            <a:ext cx="3794760" cy="4114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20640" y="868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VIF Analysis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12801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Variance Inflation Factor computed on RobustScaler-standardised data — standard practice for numerical stability.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20640" y="1938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</a:rPr>
              <a:t>VIF &gt; 10 = multicollinearity concern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74920" y="2304288"/>
            <a:ext cx="3703320" cy="329184"/>
          </a:xfrm>
          <a:prstGeom prst="rect">
            <a:avLst/>
          </a:prstGeom>
          <a:solidFill>
            <a:srgbClr val="3D1C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3408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RAM_x_Memory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23408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High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699248" y="2340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Expected — contains RAM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074920" y="2706624"/>
            <a:ext cx="3703320" cy="329184"/>
          </a:xfrm>
          <a:prstGeom prst="rect">
            <a:avLst/>
          </a:prstGeom>
          <a:solidFill>
            <a:srgbClr val="3D1C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27432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RAM_sq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49440" y="27432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High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699248" y="2743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Non-linear RAM term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74920" y="3108960"/>
            <a:ext cx="3703320" cy="329184"/>
          </a:xfrm>
          <a:prstGeom prst="rect">
            <a:avLst/>
          </a:prstGeom>
          <a:solidFill>
            <a:srgbClr val="1B3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1455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RAM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9440" y="31455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4B8A6"/>
                </a:solidFill>
              </a:rPr>
              <a:t>Moderate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699248" y="3145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Retained for importance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74920" y="3511296"/>
            <a:ext cx="3703320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3547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Is_5G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49440" y="35478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Low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699248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Clean signal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74920" y="3913632"/>
            <a:ext cx="3703320" cy="329184"/>
          </a:xfrm>
          <a:prstGeom prst="rect">
            <a:avLst/>
          </a:prstGeom>
          <a:solidFill>
            <a:srgbClr val="1122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6636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</a:rPr>
              <a:t>Rear_MP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49440" y="39502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Low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699248" y="39502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Independent camera spec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20640" y="43159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SelectKBest (MI) retains top K=14 features →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</a:rPr>
              <a:t>high-VIF interaction terms kept as they carry strong signal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56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Stages 11–12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01752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RobustScaler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175564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Ridge only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2286000"/>
            <a:ext cx="0" cy="29260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78608"/>
            <a:ext cx="301752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334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SelectKBest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(MI, k=14)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608" y="27614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All models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83080" y="3291840"/>
            <a:ext cx="0" cy="29260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584448"/>
            <a:ext cx="301752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39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Model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(fit/predict)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376732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Ridge/Tree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31920" y="1828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Justification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931920" y="704088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0" y="704088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7368" y="7589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Ridge Regression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7589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9488"/>
                </a:solidFill>
              </a:rPr>
              <a:t>RobustScaler 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87368" y="1051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L2 penalty must be fair across features. RobustScaler handles skewed distributions better than StandardScaler.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31920" y="1545336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0" y="1545336"/>
            <a:ext cx="64008" cy="71323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87368" y="16002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1600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</a:rPr>
              <a:t>None ✗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87368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Decision tree splits are threshold-based — scale has absolutely zero effect on predictions.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31920" y="2386584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931920" y="2386584"/>
            <a:ext cx="64008" cy="71323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87368" y="2441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Gradient Boosting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92240" y="2441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</a:rPr>
              <a:t>None ✗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87368" y="27340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Same reasoning as Random Forest — all splits are thresholds, scale-invariant.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31920" y="3227832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931920" y="3227832"/>
            <a:ext cx="64008" cy="71323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87368" y="3282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XGBoost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92240" y="32826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</a:rPr>
              <a:t>None ✗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087368" y="35753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Tree-based boosting; scale-invariant by design.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31920" y="4069080"/>
            <a:ext cx="49377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931920" y="4069080"/>
            <a:ext cx="64008" cy="7132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87368" y="4123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SelectKBest (MI)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92240" y="4123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</a:rPr>
              <a:t>None ✗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087368" y="4416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Mutual Information is rank-based, not distance-based — scale has no effect.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13 — Base Model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All models predict log(Price) then expm1-transformed back to ₹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1965960"/>
            <a:ext cx="502920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 rot="5400000">
            <a:off x="5006340" y="21263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</a:rPr>
              <a:t>Target: 0.85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60720" y="896112"/>
            <a:ext cx="3063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896112"/>
            <a:ext cx="64008" cy="896112"/>
          </a:xfrm>
          <a:prstGeom prst="rect">
            <a:avLst/>
          </a:prstGeom>
          <a:solidFill>
            <a:srgbClr val="0064A4"/>
          </a:solidFill>
          <a:ln w="12700">
            <a:solidFill>
              <a:srgbClr val="0064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16168" y="950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Ridge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16168" y="1408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R²: 0.72  ·  MAE: ~₹3,200  ·  CV: 0.70 ±0.03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56148" y="1975104"/>
            <a:ext cx="3063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1929384"/>
            <a:ext cx="64008" cy="89611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16168" y="1984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Random Forest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16168" y="2441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R²: 0.84  ·  MAE: ~₹1,900  ·  CV: 0.82 ±0.02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2962656"/>
            <a:ext cx="3063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2962656"/>
            <a:ext cx="64008" cy="896112"/>
          </a:xfrm>
          <a:prstGeom prst="rect">
            <a:avLst/>
          </a:prstGeom>
          <a:solidFill>
            <a:srgbClr val="0D7A72"/>
          </a:solidFill>
          <a:ln w="12700">
            <a:solidFill>
              <a:srgbClr val="0D7A7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16168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Grad. Boost.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916168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R²: 0.86  ·  MAE: ~₹1,650  ·  CV: 0.84 ±0.02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60720" y="3995928"/>
            <a:ext cx="3063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3995928"/>
            <a:ext cx="64008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16168" y="4050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</a:rPr>
              <a:t>XGBoost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16168" y="4507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R²: 0.88  ·  MAE: ~₹1,450  ·  CV: 0.86 ±0.02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370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</a:rPr>
              <a:t>XGBoost leads with R²=0.88 — selected for tuning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74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</a:rPr>
              <a:t>Stage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28600" y="1554480"/>
            <a:ext cx="3017520" cy="10972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18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RandomizedSearchCV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n_iter=40  |  cv=5  |  scoring='r2'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1F5F9"/>
                </a:solidFill>
              </a:rPr>
              <a:t>n_jobs=-1  |  random_state=42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Tuned Results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182112"/>
            <a:ext cx="29260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0.91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776472"/>
            <a:ext cx="2926080" cy="5029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94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Rand. Forest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0.89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370832"/>
            <a:ext cx="2926080" cy="502920"/>
          </a:xfrm>
          <a:prstGeom prst="rect">
            <a:avLst/>
          </a:prstGeom>
          <a:solidFill>
            <a:srgbClr val="0064A4"/>
          </a:solidFill>
          <a:ln w="12700">
            <a:solidFill>
              <a:srgbClr val="0064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4389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0.74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20116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XGBoost — Key Hyperparameters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749040" y="704088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58768" y="795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n_estimators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795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300–800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20840" y="795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More trees → better ensemble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1252728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58768" y="1344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max_depth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344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3–6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20840" y="1344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Controls overfitting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49040" y="1801368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58768" y="1892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learning_rate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1892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0.01–0.11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1892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Step size per iteration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49040" y="2350008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858768" y="2441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subsample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2441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0.65–1.0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2084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Row fraction per tree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49040" y="2898648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858768" y="2990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colsample_bytree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0.65–1.0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20840" y="2990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Feature fraction per tree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749040" y="3447288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858768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min_child_weight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77840" y="35387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3–9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20840" y="3538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Minimum data per leaf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49040" y="3995928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858768" y="4087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reg_alpha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577840" y="4087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0–2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20840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L1 regularisation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49040" y="4544568"/>
            <a:ext cx="5074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254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858768" y="4636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reg_lambda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77840" y="4636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1–4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20840" y="4636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L2 regularisation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600" y="1371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18 — Model Explainability with SHAP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SHapley Additive exPlanations — TreeExplainer on best tree model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" y="960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Mean |SHAP| by Feature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RAM_x_ProcTier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0" y="1380744"/>
            <a:ext cx="418429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6014" y="13258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0.88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20040" y="1737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Brand_Price_Tier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0" y="1792224"/>
            <a:ext cx="3613709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5429" y="1737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0.76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20040" y="2148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RAM_x_Memory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6000" y="2203704"/>
            <a:ext cx="3328416" cy="237744"/>
          </a:xfrm>
          <a:prstGeom prst="rect">
            <a:avLst/>
          </a:prstGeom>
          <a:solidFill>
            <a:srgbClr val="0D7A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0136" y="21488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0.70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004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RAM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0" y="2615184"/>
            <a:ext cx="2948026" cy="237744"/>
          </a:xfrm>
          <a:prstGeom prst="rect">
            <a:avLst/>
          </a:prstGeom>
          <a:solidFill>
            <a:srgbClr val="0D7A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79746" y="256032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0.62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0040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Processor_Tier_Num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86000" y="3026664"/>
            <a:ext cx="2615184" cy="237744"/>
          </a:xfrm>
          <a:prstGeom prst="rect">
            <a:avLst/>
          </a:prstGeom>
          <a:solidFill>
            <a:srgbClr val="0D7A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46904" y="29718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0.55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004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5G_x_ProcTier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0" y="3438144"/>
            <a:ext cx="2282342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4062" y="33832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0.48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20040" y="3794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Rear_MP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86000" y="3849624"/>
            <a:ext cx="1997050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28770" y="3794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0.42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004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Memory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286000" y="4261104"/>
            <a:ext cx="1711757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043477" y="4206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</a:rPr>
              <a:t>0.36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577840" y="960120"/>
            <a:ext cx="3246120" cy="3840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715000" y="10789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</a:rPr>
              <a:t>What SHAP tells us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715000" y="1554480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1.  RAM × Processor Tier is the most impactful combined feature — pricing is non-additive.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715000" y="2176272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2.  Brand equity (Brand_Price_Tier) is a top driver, independent of hardware.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715000" y="2798064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3.  Interaction terms outperform their parent features individually.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715000" y="3419856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4.  5G × Processor Tier confirms 5G adds more value in premium segment.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715000" y="404164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5.  Battery and screen size have relatively lower individual SHAP values.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Stages 15–17 &amp; 19–20 — Residuals · Org Recommendations · Deployment · Monitoring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57200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60" y="13990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Model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15179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Tuned XGBoost achieves R²≈0.91 on ₹ scale. MAE reduced ~55% vs Ridge baseline.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2359152"/>
            <a:ext cx="4160520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359152"/>
            <a:ext cx="457200" cy="10789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60" y="266090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2450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Top Price Drivers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68680" y="27797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RAM × Proc. Tier, Brand equity, 5G flag, and rear camera MP are the strongest levers.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3621024"/>
            <a:ext cx="4160520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16653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3621024"/>
            <a:ext cx="457200" cy="10789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760" y="392277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" y="37124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68680" y="40416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predict_smartphone_price() pipeline: input specs → feature transform → log prediction → expm1 → ₹.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754880" y="1097280"/>
            <a:ext cx="4160520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1097280"/>
            <a:ext cx="457200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6320" y="139903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49240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349240" y="151790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Drift threshold = 1.5× training MAE. Retrain monthly or when new chipsets launch.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754880" y="2359152"/>
            <a:ext cx="4160520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54880" y="2359152"/>
            <a:ext cx="457200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6320" y="2660904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49240" y="2450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Quality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349240" y="277977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Standardise brand names, camera formats (e.g. '50MP'), processor taxonomy for ongoing accuracy.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754880" y="3621024"/>
            <a:ext cx="4160520" cy="1078992"/>
          </a:xfrm>
          <a:prstGeom prst="rect">
            <a:avLst/>
          </a:prstGeom>
          <a:solidFill>
            <a:srgbClr val="112240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754880" y="3621024"/>
            <a:ext cx="457200" cy="10789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6320" y="3922776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49240" y="37124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Impact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5349240" y="404164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Automated price estimation, data-driven strategy, reduced manual pricing effort across catalog.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</TotalTime>
  <Words>1653</Words>
  <Application>Microsoft Office PowerPoint</Application>
  <PresentationFormat>On-screen Show (16:9)</PresentationFormat>
  <Paragraphs>358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Calibri</vt:lpstr>
      <vt:lpstr>Arial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Smartphone Price Prediction — ML Pipeline</dc:title>
  <dc:subject>PptxGenJS Presentation</dc:subject>
  <dc:creator>PptxGenJS</dc:creator>
  <cp:lastModifiedBy>Subharshi Das Purkayastha</cp:lastModifiedBy>
  <cp:revision>8</cp:revision>
  <dcterms:created xsi:type="dcterms:W3CDTF">2026-03-10T16:38:34Z</dcterms:created>
  <dcterms:modified xsi:type="dcterms:W3CDTF">2026-03-10T18:18:39Z</dcterms:modified>
</cp:coreProperties>
</file>